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536" y="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8C14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7448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altLang="zh-CN" sz="4600" b="1" dirty="0">
                <a:solidFill>
                  <a:srgbClr val="FFFFFF"/>
                </a:solidFill>
                <a:latin typeface="Calibri"/>
              </a:rPr>
              <a:t>2D</a:t>
            </a:r>
            <a:r>
              <a:rPr sz="4600" b="1" dirty="0">
                <a:solidFill>
                  <a:srgbClr val="FFFFFF"/>
                </a:solidFill>
                <a:latin typeface="Calibri"/>
              </a:rPr>
              <a:t> Takeoff with Frontier VLMs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CCD6E0"/>
                </a:solidFill>
                <a:latin typeface="Calibri"/>
              </a:rPr>
              <a:t>Can GPT-4.1 / Claude-Opus / Gemini-2.5 detect swing doors in floor plans?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CEE329 Final Project  ·  Stanford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Calibri"/>
              </a:rPr>
              <a:t>3 models · 2 prompts · 2 inference strategies · 10 floor plans · 261 GT bboxes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door takeoff?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Counting doors is the first item on every architectural takeoff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858000" cy="4572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B2E4A"/>
                </a:solidFill>
                <a:latin typeface="Calibri"/>
              </a:rPr>
              <a:t>•  Manual takeoff today: estimator clicks every door on every sheet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B2E4A"/>
                </a:solidFill>
                <a:latin typeface="Calibri"/>
              </a:rPr>
              <a:t>•  ~1–3 hours per floor plan, 10–50 plans per project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B2E4A"/>
                </a:solidFill>
                <a:latin typeface="Calibri"/>
              </a:rPr>
              <a:t>•  Errors are expensive — under-count → change order, over-count → wasted bid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0B2E4A"/>
                </a:solidFill>
                <a:latin typeface="Calibri"/>
              </a:rPr>
              <a:t>•  Frontier VLMs can in principle do this in seconds.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B2E4A"/>
                </a:solidFill>
                <a:latin typeface="Calibri"/>
              </a:rPr>
              <a:t>•  But CAN they? Recent vision-language models claim spatial grounding.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B2E4A"/>
                </a:solidFill>
                <a:latin typeface="Calibri"/>
              </a:rPr>
              <a:t>•  We test three of the strongest on a controlled benchmark.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0B2E4A"/>
                </a:solidFill>
                <a:latin typeface="Calibri"/>
              </a:rPr>
              <a:t>•  Research question: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Calibri"/>
              </a:rPr>
              <a:t>  • How close are top VLMs to production-ready door takeoff,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Calibri"/>
              </a:rPr>
              <a:t>  • and what is the dominant failure mode if not yet?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3931920" cy="4846320"/>
          </a:xfrm>
          <a:prstGeom prst="roundRect">
            <a:avLst/>
          </a:prstGeom>
          <a:solidFill>
            <a:srgbClr val="E8ECEF"/>
          </a:solidFill>
          <a:ln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79" y="155448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0B2E4A"/>
                </a:solidFill>
                <a:latin typeface="Calibri"/>
              </a:rPr>
              <a:t>Spec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011680"/>
            <a:ext cx="3657600" cy="41148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Task: detect swing-door arcs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Output: pixel-space bboxes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Metric: F1 @ IoU 0.5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Stretch: multi-IoU + counting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Models tested: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claude-opus-4-8 (Anthropic)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gpt-4.1 (OpenAI)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gemini-2.5-pro (Google)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Dataset &amp;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10 floor plans · 261 hand-labelled swing arcs · VAL/TEST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217920" cy="4572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2E4A"/>
                </a:solidFill>
                <a:latin typeface="Calibri"/>
              </a:rPr>
              <a:t>•  Source: 4 architectural sets from real student housing project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0B2E4A"/>
                </a:solidFill>
                <a:latin typeface="Calibri"/>
              </a:rPr>
              <a:t>•  A2.x = floor plans (Ground / Floor 2-5)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0B2E4A"/>
                </a:solidFill>
                <a:latin typeface="Calibri"/>
              </a:rPr>
              <a:t>•  A7.1.1 = enlarged unit / signage plans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0B2E4A"/>
                </a:solidFill>
                <a:latin typeface="Calibri"/>
              </a:rPr>
              <a:t>•  Mixed scales: 608×1138 to 1728×4032 px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2E4A"/>
                </a:solidFill>
                <a:latin typeface="Calibri"/>
              </a:rPr>
              <a:t>•  Annotation: CVAT → VOC XML → CSV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  • Convention: bbox tightly encloses ONLY the arc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  • (not the straight door-leaf line)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  • Mean h/w = 1.03 (consistently square)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0B2E4A"/>
                </a:solidFill>
                <a:latin typeface="Calibri"/>
              </a:rPr>
              <a:t>•  Splits: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  • VAL = 6 images, 167 bboxes (prompt iteration)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Calibri"/>
              </a:rPr>
              <a:t>  • TEST = 4 images, 94 bboxes (held out)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137160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Sheet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Folder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Image (px)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Doors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Door size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A2.1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Ground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688×1138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27×27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A2.1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Floor 2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608×1138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25×26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A2.2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Floor 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754×1286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28×27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A2.3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Floor 5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718×1288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30×27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A7.1.1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Ground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672×1304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45×45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A7.1.1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Typical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1728×4032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107×98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43891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VAL split — note the 70× range in image-area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PDF → PNG → VLM → JSON bboxes → IoU eval → multi-metric reanalysis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1519602" cy="914400"/>
          </a:xfrm>
          <a:prstGeom prst="round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PDF
(set drawings)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85362" y="2221992"/>
            <a:ext cx="137160" cy="128016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22522" y="1828800"/>
            <a:ext cx="1519602" cy="914400"/>
          </a:xfrm>
          <a:prstGeom prst="roundRect">
            <a:avLst/>
          </a:prstGeom>
          <a:solidFill>
            <a:srgbClr val="17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PNG
(per sheet)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42124" y="2221992"/>
            <a:ext cx="137160" cy="128016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79284" y="1828800"/>
            <a:ext cx="1519602" cy="914400"/>
          </a:xfrm>
          <a:prstGeom prst="roundRect">
            <a:avLst/>
          </a:prstGeom>
          <a:solidFill>
            <a:srgbClr val="8C14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VLM call
3 models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98886" y="2221992"/>
            <a:ext cx="137160" cy="128016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36046" y="1828800"/>
            <a:ext cx="1519602" cy="914400"/>
          </a:xfrm>
          <a:prstGeom prst="roundRect">
            <a:avLst/>
          </a:prstGeom>
          <a:solidFill>
            <a:srgbClr val="17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JSON bboxes
(normalized)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55648" y="2221992"/>
            <a:ext cx="137160" cy="128016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92808" y="1828800"/>
            <a:ext cx="1519602" cy="914400"/>
          </a:xfrm>
          <a:prstGeom prst="round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Pixel bboxes
+ NMS (tile)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12410" y="2221992"/>
            <a:ext cx="137160" cy="128016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49570" y="1828800"/>
            <a:ext cx="1519602" cy="914400"/>
          </a:xfrm>
          <a:prstGeom prst="roundRect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IoU eval
vs GT XML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169172" y="2221992"/>
            <a:ext cx="137160" cy="128016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306332" y="1828800"/>
            <a:ext cx="1519602" cy="91440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Reanalysis
IoU + count + dist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5486400" cy="32004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Per-image flow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PDF rendered at 200 dpi → cached PNG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PNG → base64 → multimodal request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Response parsed into per-door bboxes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Cache: hash(image) + model + prompt-ver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303520" cy="32004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Tile variant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Image sliced 2×2 (or 2×6 for largest sheet)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Each tile gets its own VLM call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Tile-relative bboxes → full-image pixels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Cross-tile NMS @ IoU 0.4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we tried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Three approaches, each strictly better than the previous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Models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API calls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Best F1@0.5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A1: Baseline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3 frontier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swing-v1
(L-shape)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Full image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18 (VAL)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A2: Refined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3 frontier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swing-v2
(arc only)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Full image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18 (VAL)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0.023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A3: Tile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3 frontier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swing-v2
(arc only)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2×2 / 2×6
+ NMS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96 (VAL)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8A4B"/>
                          </a:solidFill>
                          <a:latin typeface="Calibri"/>
                        </a:rPr>
                        <a:t>0.077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47120" cy="2286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Each approach was motivated by a specific failure observed in the previous run: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A1 → A2: Gemini returned `{"doors":[]}` 4/6 times; anthropic bboxes were too tall (h/w 1.4–1.9)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A2 → A3: A2.x sheets still F1=0; hypothesis was "VLM resolution loss on small doors" → tile to preserve pixels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Total work: 132 API calls (incl. tile retries), 36 viz PNGs, 21 metric CSVs, 4 src/ modules added.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Approach 1 · Baseline (swing-v1)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Send the whole plan, ask for door-arc L-shape bboxes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675120" cy="4572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A"/>
                </a:solidFill>
                <a:latin typeface="Calibri"/>
              </a:rPr>
              <a:t>•  Prompt v1 (key excerpt):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"bbox is normalized to [0,1] of THIS image,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 tightly enclosing the L-shape (door leaf + arc):"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A"/>
                </a:solidFill>
                <a:latin typeface="Calibri"/>
              </a:rPr>
              <a:t>•  Output schema (per model):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{ "doors": [ {bbox: [x1,y1,x2,y2], confidence: 0..1} ] }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A"/>
                </a:solidFill>
                <a:latin typeface="Calibri"/>
              </a:rPr>
              <a:t>•  Models (initial choice):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anthropic = claude-opus-4-8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openai    = gpt-4.1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gemini    = gemini-3.1-pro-preview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18872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Calibri"/>
              </a:rPr>
              <a:t>VAL results (swing-v1, full image)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64592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F1@0.1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F1@0.5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Counting err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anthropic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0.203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41 %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0.093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39 %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2E4A"/>
                          </a:solidFill>
                          <a:latin typeface="Calibri"/>
                        </a:rPr>
                        <a:t>84 %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3749039"/>
            <a:ext cx="457200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All three F1 ≈ 0 at the standard IoU=0.5 threshold.
Gemini returned empty lists on 4 / 6 sheets.
Where do we go from here? → inspect outputs.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the v1 outputs looked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GT = red · model preds = blue</a:t>
            </a:r>
          </a:p>
        </p:txBody>
      </p:sp>
      <p:pic>
        <p:nvPicPr>
          <p:cNvPr id="4" name="Picture 3" descr="A2.1-1__anthr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095782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63640"/>
            <a:ext cx="309578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Anthropic — bboxes look about right shape, often misaligned</a:t>
            </a:r>
          </a:p>
        </p:txBody>
      </p:sp>
      <p:pic>
        <p:nvPicPr>
          <p:cNvPr id="6" name="Picture 5" descr="A2.1-1__ge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97280"/>
            <a:ext cx="3095782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6263640"/>
            <a:ext cx="309578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Gemini — many predictions outside the drawing extents</a:t>
            </a:r>
          </a:p>
        </p:txBody>
      </p:sp>
      <p:pic>
        <p:nvPicPr>
          <p:cNvPr id="8" name="Picture 7" descr="A2.1-1__open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097280"/>
            <a:ext cx="3095782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6263640"/>
            <a:ext cx="309578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OpenAI — wider, shifted up-left of GT arcs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Lessons from v1 — two distinct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Format chaos vs spatial chaos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8C1415"/>
                </a:solidFill>
                <a:latin typeface="Calibri"/>
              </a:rPr>
              <a:t>Problem 1 — Gemini format chaos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286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4 of 6 sheets returned `{"doors": []}` (empty)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2 of 6 returned pixel coords (not normalized)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Counting error = 84 %  (predicted 28 vs 167 actual)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A"/>
                </a:solidFill>
                <a:latin typeface="Calibri"/>
              </a:rPr>
              <a:t>•  Hypothesis: gemini-3.1-pro-preview is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A"/>
                </a:solidFill>
                <a:latin typeface="Calibri"/>
              </a:rPr>
              <a:t>•  miscalibrated on dense bbox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8C1415"/>
                </a:solidFill>
                <a:latin typeface="Calibri"/>
              </a:rPr>
              <a:t>Problem 2 — convention mismatch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486400" cy="2286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Model bboxes have aspect h/w ≈ 1.4–1.9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GT bboxes have aspect h/w ≈ 1.0 (arc-only)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Models include the straight door-leaf line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A"/>
                </a:solidFill>
                <a:latin typeface="Calibri"/>
              </a:rPr>
              <a:t>•  Even when the model finds the right door,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A"/>
                </a:solidFill>
                <a:latin typeface="Calibri"/>
              </a:rPr>
              <a:t>•  its bbox overlap with GT is &lt; 0.5 IoU.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1B8A4B"/>
                </a:solidFill>
                <a:latin typeface="Calibri"/>
              </a:rPr>
              <a:t>→ Two interventions for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01168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Swap gemini-3.1-pro-preview → gemini-2.5-pro (more mature checkpoint)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Rewrite the bbox spec: "ONLY the quarter-circle arc · approximately square · ~one door-width"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Bump cache namespace swing-v1 → swing-v2 so all 18 calls are fresh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Approach 2 · Refined prompt (swing-v2)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Tighten the bbox spec, swap one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dirty="0">
                <a:solidFill>
                  <a:srgbClr val="0B2E4A"/>
                </a:solidFill>
                <a:latin typeface="Calibri"/>
              </a:rPr>
              <a:t>Prompt 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8C1415"/>
                </a:solidFill>
                <a:latin typeface="Calibri"/>
              </a:rPr>
              <a:t>swing-v1 (before)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86400" cy="1554480"/>
          </a:xfrm>
          <a:prstGeom prst="roundRect">
            <a:avLst/>
          </a:prstGeom>
          <a:solidFill>
            <a:srgbClr val="FDF0F0"/>
          </a:solidFill>
          <a:ln>
            <a:solidFill>
              <a:srgbClr val="8C14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/>
            <a:r>
              <a:rPr sz="1400" b="0">
                <a:solidFill>
                  <a:srgbClr val="0B2E4A"/>
                </a:solidFill>
                <a:latin typeface="Consolas"/>
              </a:rPr>
              <a:t>bbox is normalized to [0, 1] of THIS image, tightly enclosing the L-shape (door leaf + arc).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B8A4B"/>
                </a:solidFill>
                <a:latin typeface="Calibri"/>
              </a:rPr>
              <a:t>swing-v2 (after)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486400" cy="1554480"/>
          </a:xfrm>
          <a:prstGeom prst="roundRect">
            <a:avLst/>
          </a:prstGeom>
          <a:solidFill>
            <a:srgbClr val="EFF8F1"/>
          </a:solidFill>
          <a:ln>
            <a:solidFill>
              <a:srgbClr val="1B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/>
            <a:r>
              <a:rPr sz="1400" b="0">
                <a:solidFill>
                  <a:srgbClr val="0B2E4A"/>
                </a:solidFill>
                <a:latin typeface="Consolas"/>
              </a:rPr>
              <a:t>bbox encloses ONLY the quarter-circle arc — do NOT include the straight door-leaf line. Approximately SQUARE, ~one door-width on each 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0B2E4A"/>
                </a:solidFill>
                <a:latin typeface="Calibri"/>
              </a:rPr>
              <a:t>Model swap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11247120" cy="2286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gemini-3.1-pro-preview  →  gemini-2.5-pro  (production checkpoint, less format drift)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anthropic &amp; openai unchanged (claude-opus-4-8, gpt-4.1)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A"/>
                </a:solidFill>
                <a:latin typeface="Calibri"/>
              </a:rPr>
              <a:t>•  Same cache namespace bump: swing-v2 → 18 new VAL API calls.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Approach 2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Refined prompt + model swap → fixes gemini format, marginal IoU 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Calibri"/>
              </a:rPr>
              <a:t>VAL results · swing-v2 · full image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314693"/>
              </p:ext>
            </p:extLst>
          </p:nvPr>
        </p:nvGraphicFramePr>
        <p:xfrm>
          <a:off x="457199" y="1554480"/>
          <a:ext cx="6244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0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9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07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F1@0.1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F1@0.5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Preds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Counting</a:t>
                      </a: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err</a:t>
                      </a:r>
                      <a:endParaRPr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Dist F1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anthropic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0.023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8A4B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44 %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0.088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0.006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14 %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0.19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0.155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B8A4B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09728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Calibri"/>
              </a:rPr>
              <a:t>What changed vs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5029200" cy="27432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Gemini counting:  84% → 8 %  ✓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→ 2.5-pro emits clean normalized bboxes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Anthropic F1@0.5:  0.000 → 0.023  ✓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→ arc-only spec is closer to GT convention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OpenAI:  ~unchanged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→ still wide &amp; shifted bboxes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8C1415"/>
                </a:solidFill>
                <a:latin typeface="Calibri"/>
              </a:rPr>
              <a:t>But: F1@0.5 still essentially zero. Why?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Two metrics tell the diagnostic story: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F1 @ IoU 0.1 stays in 0.09 – 0.16 range — predictions are spatially close but not pixel-precise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Center-distance F1 reaches 0.32 — models DO find the right doors, they just can't draw a tight arc-only box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A"/>
                </a:solidFill>
                <a:latin typeface="Calibri"/>
              </a:rPr>
              <a:t>•  Hypothesis: the limit is image resolution. At full-image, an arc occupies ~4% of width → too few pixels for tight bbox.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Diagnosis · GT vs model overlay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anthropic finds the doors but boxes the wrong sub-region</a:t>
            </a:r>
          </a:p>
        </p:txBody>
      </p:sp>
      <p:pic>
        <p:nvPicPr>
          <p:cNvPr id="4" name="Picture 3" descr="A2.2-1__anthr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002304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63640"/>
            <a:ext cx="300230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A2.2-1 / anthropic (full-image, swing-v2)</a:t>
            </a:r>
          </a:p>
        </p:txBody>
      </p:sp>
      <p:pic>
        <p:nvPicPr>
          <p:cNvPr id="6" name="Picture 5" descr="A2.1-2__anthrop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97280"/>
            <a:ext cx="2735808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6263640"/>
            <a:ext cx="2735808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A2.1-2 / anthropic — blue often misses red by half-a-bbox</a:t>
            </a:r>
          </a:p>
        </p:txBody>
      </p:sp>
      <p:pic>
        <p:nvPicPr>
          <p:cNvPr id="8" name="Picture 7" descr="A2.3-1__anthrop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097280"/>
            <a:ext cx="2854518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6263640"/>
            <a:ext cx="2854518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A2.3-1 / anthropic — same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Approach 3 · Tile-based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Slice the plan, run the prompt per tile, NMS-merge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Why tiling might help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At full image, a 27-px door covers ~4 % of width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At 2×2 tile, that same door is ~8 % of tile width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Effective resolution roughly doubles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Mechanics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Target tile size = 700 px per side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Overlap = 15 %  (catches doors on tile edges)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A2.x → 2×2 = 4 tiles · A7.1.1 Typical → 2×6 = 12 tiles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32 tiles per model · 3 models = 96 API calls / VAL run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Post-processing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Tile-relative normalized bbox → full-image pixel coords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Cross-tile NMS @ IoU 0.4 (dedupes overlap-region doubles)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18872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Calibri"/>
              </a:rPr>
              <a:t>Tile grid (schematic)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737360"/>
            <a:ext cx="4114800" cy="4114800"/>
          </a:xfrm>
          <a:prstGeom prst="rect">
            <a:avLst/>
          </a:prstGeom>
          <a:solidFill>
            <a:srgbClr val="E8ECEF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1737360"/>
            <a:ext cx="2011680" cy="2011680"/>
          </a:xfrm>
          <a:prstGeom prst="rect">
            <a:avLst/>
          </a:prstGeom>
          <a:solidFill>
            <a:srgbClr val="9BC1E7"/>
          </a:solidFill>
          <a:ln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418320" y="1737360"/>
            <a:ext cx="2011680" cy="2011680"/>
          </a:xfrm>
          <a:prstGeom prst="rect">
            <a:avLst/>
          </a:prstGeom>
          <a:solidFill>
            <a:srgbClr val="E7B79B"/>
          </a:solidFill>
          <a:ln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0" y="3840480"/>
            <a:ext cx="2011680" cy="2011680"/>
          </a:xfrm>
          <a:prstGeom prst="rect">
            <a:avLst/>
          </a:prstGeom>
          <a:solidFill>
            <a:srgbClr val="B1DCC0"/>
          </a:solidFill>
          <a:ln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18320" y="3840480"/>
            <a:ext cx="2011680" cy="2011680"/>
          </a:xfrm>
          <a:prstGeom prst="rect">
            <a:avLst/>
          </a:prstGeom>
          <a:solidFill>
            <a:srgbClr val="E6D488"/>
          </a:solidFill>
          <a:ln>
            <a:solidFill>
              <a:srgbClr val="0B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598932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4 tiles · 15 % overlap · NMS @ IoU 0.4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Approach 3 · Tile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anthropic +235 % at IoU 0.5 · others unchanged or worse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Calibri"/>
              </a:rPr>
              <a:t>VAL · swing-v2 · 2×2/2×6 tile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79797"/>
              </p:ext>
            </p:extLst>
          </p:nvPr>
        </p:nvGraphicFramePr>
        <p:xfrm>
          <a:off x="457200" y="1554480"/>
          <a:ext cx="5943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2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F1@0.1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F1@0.5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Preds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Counting</a:t>
                      </a: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err</a:t>
                      </a:r>
                      <a:endParaRPr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Dist F1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anthropic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8A4B"/>
                          </a:solidFill>
                          <a:latin typeface="Calibri"/>
                        </a:rPr>
                        <a:t>0.340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8A4B"/>
                          </a:solidFill>
                          <a:latin typeface="Calibri"/>
                        </a:rPr>
                        <a:t>0.077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8A4B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49 %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0.085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161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13 %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0.160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0.005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2E4A"/>
                          </a:solidFill>
                          <a:latin typeface="Calibri"/>
                        </a:rPr>
                        <a:t>17 %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2E4A"/>
                          </a:solidFill>
                          <a:latin typeface="Calibri"/>
                        </a:rPr>
                        <a:t>0.28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09728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Calibri"/>
              </a:rPr>
              <a:t>Per-sheet F1@0.5 · anthropic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55448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Sheet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Image px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Door px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F1@0.5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A2.1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688 × 1138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27 × 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A2.2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754 × 1286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28 × 27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A2.3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718 × 1288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30 × 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0.044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A7.1.1 G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672 × 1304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45 × 45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0.048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A7.1.1 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1728 × 4032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107 × 98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E4A"/>
                          </a:solidFill>
                          <a:latin typeface="Calibri"/>
                        </a:rPr>
                        <a:t>0.271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0B2E4A"/>
                </a:solidFill>
                <a:latin typeface="Calibri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Tiling helps only where doors are LARGE in absolute pixels.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A2.x doors are 27 px — slicing the image doesn't make them bigger; convention mismatch dominates → F1 = 0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A7.1.1 Typical doors are 107 px — full image was downsampling them past detection; tiling preserves them → F1 = 0.27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anthropic specifically benefits because its v2 bboxes were already shape-correct, just placement-imprecise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Best case: A7.1.1 Typical · anthropic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Full-image F1 = 0.000   →   tile F1 = 0.271</a:t>
            </a:r>
          </a:p>
        </p:txBody>
      </p:sp>
      <p:pic>
        <p:nvPicPr>
          <p:cNvPr id="4" name="Picture 3" descr="A7.1.1_Typical__anthr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19456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7105" y="1508760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dirty="0">
                <a:solidFill>
                  <a:srgbClr val="555555"/>
                </a:solidFill>
                <a:latin typeface="Calibri"/>
              </a:rPr>
              <a:t>Full-image (28 GT · 23 pred · TP = 0 · F1 = 0.000)</a:t>
            </a:r>
          </a:p>
        </p:txBody>
      </p:sp>
      <p:pic>
        <p:nvPicPr>
          <p:cNvPr id="6" name="Picture 5" descr="A7.1.1_Typical__anthropic__tile_swing-v2_t700_ov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219456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78869" y="1508760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dirty="0">
                <a:solidFill>
                  <a:srgbClr val="555555"/>
                </a:solidFill>
                <a:latin typeface="Calibri"/>
              </a:rPr>
              <a:t>Tiled 2×6 (28 GT · 31 pred · TP = 8 · F1 = 0.271)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635508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 dirty="0">
                <a:solidFill>
                  <a:srgbClr val="555555"/>
                </a:solidFill>
                <a:latin typeface="Calibri"/>
              </a:rPr>
              <a:t>Same sheet, same model, same prompt — only the inference strategy changed.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14 / 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D29105-2B66-A10C-F792-1F093DC1F33A}"/>
              </a:ext>
            </a:extLst>
          </p:cNvPr>
          <p:cNvSpPr/>
          <p:nvPr/>
        </p:nvSpPr>
        <p:spPr>
          <a:xfrm>
            <a:off x="6578599" y="1417320"/>
            <a:ext cx="2908301" cy="4846320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Multi-metric triangulation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IoU F1 is a single number; the failure mode is plural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4572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A"/>
                </a:solidFill>
                <a:latin typeface="Calibri"/>
              </a:rPr>
              <a:t>•  Why three metrics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IoU @ multiple thresholds — shows the bbox-shape gap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Counting — what contractors actually need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Center-distance F1 — does the model point at the right door?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A"/>
                </a:solidFill>
                <a:latin typeface="Calibri"/>
              </a:rPr>
              <a:t>•  All three implemented in src/swing_reanalyze.py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Single CSV in → 3 metric CSVs out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555"/>
                </a:solidFill>
                <a:latin typeface="Calibri"/>
              </a:rPr>
              <a:t>  • Works on full-image AND tile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188720"/>
            <a:ext cx="5943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Calibri"/>
              </a:rPr>
              <a:t>anthropic · IoU sweep (across split)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645920"/>
          <a:ext cx="5943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F1@0.1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F1@0.2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F1@0.3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F1@0.5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v1 full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0.203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0.101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0.065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v2 full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0.107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0.046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0.023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v2 tile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8A4B"/>
                          </a:solidFill>
                          <a:latin typeface="Calibri"/>
                        </a:rPr>
                        <a:t>0.340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8A4B"/>
                          </a:solidFill>
                          <a:latin typeface="Calibri"/>
                        </a:rPr>
                        <a:t>0.247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8A4B"/>
                          </a:solidFill>
                          <a:latin typeface="Calibri"/>
                        </a:rPr>
                        <a:t>0.193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8A4B"/>
                          </a:solidFill>
                          <a:latin typeface="Calibri"/>
                        </a:rPr>
                        <a:t>0.077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3840480"/>
            <a:ext cx="5943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Calibri"/>
              </a:rPr>
              <a:t>Counting &amp; distance (overall, swing-v2 full image)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4297680"/>
          <a:ext cx="5943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Count err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Dist P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Dist R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Dist F1</a:t>
                      </a:r>
                    </a:p>
                  </a:txBody>
                  <a:tcPr marL="73152" marR="73152" marT="36576" marB="36576">
                    <a:solidFill>
                      <a:srgbClr val="0B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anthropic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41A1A"/>
                          </a:solidFill>
                          <a:latin typeface="Calibri"/>
                        </a:rPr>
                        <a:t>44 %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8A4B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8A4B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73152" marR="73152" marT="36576" marB="36576"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14 %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Calibri"/>
                        </a:rPr>
                        <a:t>0.19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15 / 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A0201B-96E7-F5DC-8119-04894E63B35A}"/>
              </a:ext>
            </a:extLst>
          </p:cNvPr>
          <p:cNvSpPr/>
          <p:nvPr/>
        </p:nvSpPr>
        <p:spPr>
          <a:xfrm>
            <a:off x="5790895" y="3086100"/>
            <a:ext cx="6217920" cy="434340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failure modes, in order of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Diagnosed from per-sheet metrics + visual inspection of 36 PNGs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15258" cy="2286000"/>
          </a:xfrm>
          <a:prstGeom prst="roundRect">
            <a:avLst/>
          </a:prstGeom>
          <a:solidFill>
            <a:srgbClr val="8C14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1.  Convention mismatch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
GT = arc only · Model = leaf + arc
Aspect ratio 1.0 vs 1.4–1.9
Caps F1 @ IoU 0.5 &lt; 0.05
on all small-door sheets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8218" y="1188720"/>
            <a:ext cx="3515258" cy="2286000"/>
          </a:xfrm>
          <a:prstGeom prst="roundRect">
            <a:avLst/>
          </a:prstGeom>
          <a:solidFill>
            <a:srgbClr val="17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2.  Resolution loss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
Full-image input is downsampled
Sub-30-px doors lose features
Tiling fixes this for the large
1728×4032 sheet (F1 0 → 0.27)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19236" y="1188720"/>
            <a:ext cx="3515258" cy="228600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3.  Gemini extent noise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
~30 % of gemini preds land in
title block, north arrow, schedule
Inflates FP, depresses precision
Not present in v1's pixel mode</a:t>
            </a:r>
          </a:p>
        </p:txBody>
      </p:sp>
      <p:pic>
        <p:nvPicPr>
          <p:cNvPr id="7" name="Picture 6" descr="A2.1-1__gem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1658455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1658455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Gemini extent noise — preds in title block</a:t>
            </a:r>
          </a:p>
        </p:txBody>
      </p:sp>
      <p:pic>
        <p:nvPicPr>
          <p:cNvPr id="9" name="Picture 8" descr="A2.1-1__anthrop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3657600"/>
            <a:ext cx="1658455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0" y="6446520"/>
            <a:ext cx="1658455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Anthropic — close placement, wrong shape</a:t>
            </a:r>
          </a:p>
        </p:txBody>
      </p:sp>
      <p:pic>
        <p:nvPicPr>
          <p:cNvPr id="11" name="Picture 10" descr="A2.1-1__open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00"/>
            <a:ext cx="1658455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6446520"/>
            <a:ext cx="1658455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OpenAI — wider, shifted up-left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What to ship today, what to fix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1B8A4B"/>
                </a:solidFill>
                <a:latin typeface="Calibri"/>
              </a:rPr>
              <a:t>Best config of the four tested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1247120" cy="1005840"/>
          </a:xfrm>
          <a:prstGeom prst="roundRect">
            <a:avLst/>
          </a:prstGeom>
          <a:solidFill>
            <a:srgbClr val="EFF8F1"/>
          </a:solidFill>
          <a:ln>
            <a:solidFill>
              <a:srgbClr val="1B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/>
            <a:r>
              <a:rPr sz="2000" b="1">
                <a:solidFill>
                  <a:srgbClr val="0B2E4A"/>
                </a:solidFill>
                <a:latin typeface="Calibri"/>
              </a:rPr>
              <a:t>claude-opus-4-8   +   swing-v2 prompt   +   700-px tiles  +  15 % overlap   +   NMS @ IoU 0.4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Calibri"/>
              </a:rPr>
              <a:t>Ship-today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5486400" cy="27432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Door counting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Gemini-2.5-pro at full image: 8 % error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"Where to click" UX overlay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Anthropic+tile: P = 0.59 on found doors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High-res enlarged-unit sheets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Anthropic+tile F1 = 0.27 (production-ish quality)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10896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8C1415"/>
                </a:solidFill>
                <a:latin typeface="Calibri"/>
              </a:rPr>
              <a:t>Do NOT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5486400" cy="27432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Pixel-precise takeoff for billing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F1 @ IoU 0.5 = 0.077 across the split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Small-door sheets without convention fix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A2.x always F1 = 0 regardless of approach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A"/>
                </a:solidFill>
                <a:latin typeface="Calibri"/>
              </a:rPr>
              <a:t>•  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A"/>
                </a:solidFill>
                <a:latin typeface="Calibri"/>
              </a:rPr>
              <a:t>•  Unsupervised — needs human review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  • Best counting model still off by ~14 doors / 167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What this 1-week project couldn't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0B2E4A"/>
                </a:solidFill>
                <a:latin typeface="Calibri"/>
              </a:rPr>
              <a:t>Limitations of THIS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263597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0B2E4A"/>
                </a:solidFill>
                <a:latin typeface="Calibri"/>
              </a:rPr>
              <a:t>•  Small dataset (10 images, 261 </a:t>
            </a:r>
            <a:r>
              <a:rPr sz="1400" b="1" dirty="0" err="1">
                <a:solidFill>
                  <a:srgbClr val="0B2E4A"/>
                </a:solidFill>
                <a:latin typeface="Calibri"/>
              </a:rPr>
              <a:t>bboxes</a:t>
            </a:r>
            <a:r>
              <a:rPr sz="1400" b="1" dirty="0">
                <a:solidFill>
                  <a:srgbClr val="0B2E4A"/>
                </a:solidFill>
                <a:latin typeface="Calibr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555555"/>
                </a:solidFill>
                <a:latin typeface="Calibri"/>
              </a:rPr>
              <a:t>  • 95 % CI on recall is ±0.07</a:t>
            </a:r>
          </a:p>
          <a:p>
            <a:pPr algn="l">
              <a:lnSpc>
                <a:spcPct val="115000"/>
              </a:lnSpc>
            </a:pPr>
            <a:endParaRPr sz="1400" b="0" dirty="0">
              <a:solidFill>
                <a:srgbClr val="0B2E4A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0B2E4A"/>
                </a:solidFill>
                <a:latin typeface="Calibri"/>
              </a:rPr>
              <a:t>•  Single annotator, no IRR</a:t>
            </a:r>
          </a:p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555555"/>
                </a:solidFill>
                <a:latin typeface="Calibri"/>
              </a:rPr>
              <a:t>  • Spot-checking suggests ~95 % GT recall on real doors</a:t>
            </a:r>
          </a:p>
          <a:p>
            <a:pPr algn="l">
              <a:lnSpc>
                <a:spcPct val="115000"/>
              </a:lnSpc>
            </a:pPr>
            <a:endParaRPr sz="1400" b="0" dirty="0">
              <a:solidFill>
                <a:srgbClr val="0B2E4A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0B2E4A"/>
                </a:solidFill>
                <a:latin typeface="Calibri"/>
              </a:rPr>
              <a:t>•  Arc-only convention is one of several valid choices</a:t>
            </a:r>
          </a:p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555555"/>
                </a:solidFill>
                <a:latin typeface="Calibri"/>
              </a:rPr>
              <a:t>  • Models trained on COCO-style boxes don't share it</a:t>
            </a:r>
          </a:p>
          <a:p>
            <a:pPr algn="l">
              <a:lnSpc>
                <a:spcPct val="115000"/>
              </a:lnSpc>
            </a:pPr>
            <a:endParaRPr sz="1400" b="0" dirty="0">
              <a:solidFill>
                <a:srgbClr val="0B2E4A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0B2E4A"/>
                </a:solidFill>
                <a:latin typeface="Calibri"/>
              </a:rPr>
              <a:t>•  Only 3 models, all closed-source</a:t>
            </a:r>
          </a:p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555555"/>
                </a:solidFill>
                <a:latin typeface="Calibri"/>
              </a:rPr>
              <a:t>  • Open VLMs (Qwen-VL, </a:t>
            </a:r>
            <a:r>
              <a:rPr sz="1200" b="0" dirty="0" err="1">
                <a:solidFill>
                  <a:srgbClr val="555555"/>
                </a:solidFill>
                <a:latin typeface="Calibri"/>
              </a:rPr>
              <a:t>InternVL</a:t>
            </a:r>
            <a:r>
              <a:rPr sz="1200" b="0" dirty="0">
                <a:solidFill>
                  <a:srgbClr val="555555"/>
                </a:solidFill>
                <a:latin typeface="Calibri"/>
              </a:rPr>
              <a:t>) not 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B8A4B"/>
                </a:solidFill>
                <a:latin typeface="Calibri"/>
              </a:rPr>
              <a:t>Concrete next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486400" cy="263597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0B2E4A"/>
                </a:solidFill>
                <a:latin typeface="Calibri"/>
              </a:rPr>
              <a:t>•  Dual-convention GT</a:t>
            </a:r>
          </a:p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555555"/>
                </a:solidFill>
                <a:latin typeface="Calibri"/>
              </a:rPr>
              <a:t>  • Re-annotate with arc-only AND </a:t>
            </a:r>
            <a:r>
              <a:rPr sz="1200" b="0" dirty="0" err="1">
                <a:solidFill>
                  <a:srgbClr val="555555"/>
                </a:solidFill>
                <a:latin typeface="Calibri"/>
              </a:rPr>
              <a:t>leaf+arc</a:t>
            </a:r>
            <a:r>
              <a:rPr sz="1200" b="0" dirty="0">
                <a:solidFill>
                  <a:srgbClr val="555555"/>
                </a:solidFill>
                <a:latin typeface="Calibri"/>
              </a:rPr>
              <a:t>; measure </a:t>
            </a:r>
            <a:r>
              <a:rPr sz="1200" b="0" dirty="0" err="1">
                <a:solidFill>
                  <a:srgbClr val="555555"/>
                </a:solidFill>
                <a:latin typeface="Calibri"/>
              </a:rPr>
              <a:t>IoU</a:t>
            </a:r>
            <a:r>
              <a:rPr sz="1200" b="0" dirty="0">
                <a:solidFill>
                  <a:srgbClr val="555555"/>
                </a:solidFill>
                <a:latin typeface="Calibri"/>
              </a:rPr>
              <a:t> under each</a:t>
            </a:r>
          </a:p>
          <a:p>
            <a:pPr algn="l">
              <a:lnSpc>
                <a:spcPct val="115000"/>
              </a:lnSpc>
            </a:pPr>
            <a:endParaRPr sz="1400" b="0" dirty="0">
              <a:solidFill>
                <a:srgbClr val="0B2E4A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0B2E4A"/>
                </a:solidFill>
                <a:latin typeface="Calibri"/>
              </a:rPr>
              <a:t>•  Finer tile grid for small-door sheets</a:t>
            </a:r>
          </a:p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555555"/>
                </a:solidFill>
                <a:latin typeface="Calibri"/>
              </a:rPr>
              <a:t>  • 400-px tiles → 4×4 on A2.x; does </a:t>
            </a:r>
            <a:r>
              <a:rPr sz="1200" b="0" dirty="0" err="1">
                <a:solidFill>
                  <a:srgbClr val="555555"/>
                </a:solidFill>
                <a:latin typeface="Calibri"/>
              </a:rPr>
              <a:t>IoU</a:t>
            </a:r>
            <a:r>
              <a:rPr sz="1200" b="0" dirty="0">
                <a:solidFill>
                  <a:srgbClr val="555555"/>
                </a:solidFill>
                <a:latin typeface="Calibri"/>
              </a:rPr>
              <a:t> 0.5 recover?</a:t>
            </a:r>
          </a:p>
          <a:p>
            <a:pPr algn="l">
              <a:lnSpc>
                <a:spcPct val="115000"/>
              </a:lnSpc>
            </a:pPr>
            <a:endParaRPr sz="1400" b="0" dirty="0">
              <a:solidFill>
                <a:srgbClr val="0B2E4A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0B2E4A"/>
                </a:solidFill>
                <a:latin typeface="Calibri"/>
              </a:rPr>
              <a:t>•  </a:t>
            </a:r>
            <a:r>
              <a:rPr sz="1400" b="1" dirty="0" err="1">
                <a:solidFill>
                  <a:srgbClr val="0B2E4A"/>
                </a:solidFill>
                <a:latin typeface="Calibri"/>
              </a:rPr>
              <a:t>Bbox</a:t>
            </a:r>
            <a:r>
              <a:rPr sz="1400" b="1" dirty="0">
                <a:solidFill>
                  <a:srgbClr val="0B2E4A"/>
                </a:solidFill>
                <a:latin typeface="Calibri"/>
              </a:rPr>
              <a:t> post-processing</a:t>
            </a:r>
          </a:p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555555"/>
                </a:solidFill>
                <a:latin typeface="Calibri"/>
              </a:rPr>
              <a:t>  • Shrink anthropic L-shape → square anchored at leaf endpoint</a:t>
            </a:r>
          </a:p>
          <a:p>
            <a:pPr algn="l">
              <a:lnSpc>
                <a:spcPct val="115000"/>
              </a:lnSpc>
            </a:pPr>
            <a:endParaRPr sz="1400" b="0" dirty="0">
              <a:solidFill>
                <a:srgbClr val="0B2E4A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0B2E4A"/>
                </a:solidFill>
                <a:latin typeface="Calibri"/>
              </a:rPr>
              <a:t>•  Few-shot prompting</a:t>
            </a:r>
          </a:p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555555"/>
                </a:solidFill>
                <a:latin typeface="Calibri"/>
              </a:rPr>
              <a:t>  • Show 2-3 GT examples per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8C14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Thanks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0">
                <a:solidFill>
                  <a:srgbClr val="CCD6E0"/>
                </a:solidFill>
                <a:latin typeface="Calibri"/>
              </a:rPr>
              <a:t>All code, GT, predictions, viz, metrics in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CCD6E0"/>
                </a:solidFill>
                <a:latin typeface="Calibri"/>
              </a:rPr>
              <a:t>outputs/eval/phase4_findings.md — full writeup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CCD6E0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CEE329 Final Project · Door Takeoff MVP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2676</Words>
  <Application>Microsoft Macintosh PowerPoint</Application>
  <PresentationFormat>Widescreen</PresentationFormat>
  <Paragraphs>476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Elaine Yin</cp:lastModifiedBy>
  <cp:revision>4</cp:revision>
  <dcterms:created xsi:type="dcterms:W3CDTF">2013-01-27T09:14:16Z</dcterms:created>
  <dcterms:modified xsi:type="dcterms:W3CDTF">2026-05-31T21:43:42Z</dcterms:modified>
  <cp:category/>
</cp:coreProperties>
</file>